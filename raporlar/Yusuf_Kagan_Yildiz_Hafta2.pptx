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9B09A7-BA28-4AB7-B3DA-D85F440B29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C42A9-8FFA-4511-A4DD-F1FB4F8587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3F707E5-4DA3-4996-A184-A51CDC9E67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743EDD8-5CE2-4C2A-A1EE-D5D6A3AA8A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5067FDF-FB24-4F99-A261-49D89BCFC0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F918373-AD62-45DF-8679-A2C3C5F74D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C3788E3-F8B0-4F08-A2F8-B32A7B28BD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E895075-7DB1-4B15-8903-DE899C99B4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35D72E-07C4-4196-A863-383A6AD42B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A8550A-A24D-41A2-AAE4-0B0AAA0BD7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484A99E-5D4D-4899-B342-E386DA5D14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tr-T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3F55BA-9EA2-4063-B4F8-922CAECF7E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B2DC10-004F-4A1B-A31A-BBE33DBF04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9E7123-E857-4795-B4FF-AE4F51F92E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30E7CF-6BF0-4765-8295-2BA93950CF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377AA1-330D-4F41-900B-1F94AFC65B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7486B5-53AF-4444-86EE-C1D2F6E7BF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66325E-0268-45D5-A83D-FB3306D173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A8A48B-0B5E-44C2-AA15-9286CF87EB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9C3B67-3C2B-471D-8630-BE8C720519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Ana başlık metnini düzenlemek için tıklayın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Anahat metninin biçimini düzenlemek için tıklayın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İkinci Anahat Düzeyi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Üçüncü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Dördüncü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Beşinci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Altıncı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Yedinci Anahat Düzeyi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FC6ACD-11C5-4A4C-B528-ED8BE89B9B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Anahat metninin biçimini düzenlemek için tıklayın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İkinci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Üçüncü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Dördüncü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Beşinci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Altıncı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Yedinci Anahat Düzeyi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FF9814-97BB-407E-BB6E-A836628E59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tr-T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02920" y="274320"/>
            <a:ext cx="7314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YAPAY ZEKÂ YAZILIM TEKNOLOJİLERİ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Oval 2"/>
          <p:cNvSpPr/>
          <p:nvPr/>
        </p:nvSpPr>
        <p:spPr>
          <a:xfrm>
            <a:off x="502920" y="6446520"/>
            <a:ext cx="200880" cy="20088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Oval 3"/>
          <p:cNvSpPr/>
          <p:nvPr/>
        </p:nvSpPr>
        <p:spPr>
          <a:xfrm>
            <a:off x="822960" y="6446520"/>
            <a:ext cx="200880" cy="20088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02920" y="777240"/>
            <a:ext cx="11155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TABLO 1: Parquet ile .tab.zst Boyut Karşılaştırması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02920" y="1371600"/>
            <a:ext cx="11155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04040"/>
                </a:solidFill>
                <a:latin typeface="Arial"/>
              </a:rPr>
              <a:t>Aynı kaynak dosya (454,0 MB, bench_sample.tab) iki formatta sıkıştırıldı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2" name="Table 6"/>
          <p:cNvGraphicFramePr/>
          <p:nvPr/>
        </p:nvGraphicFramePr>
        <p:xfrm>
          <a:off x="502920" y="2103120"/>
          <a:ext cx="11155320" cy="2834280"/>
        </p:xfrm>
        <a:graphic>
          <a:graphicData uri="http://schemas.openxmlformats.org/drawingml/2006/table">
            <a:tbl>
              <a:tblPr/>
              <a:tblGrid>
                <a:gridCol w="5486400"/>
                <a:gridCol w="3200400"/>
                <a:gridCol w="2468880"/>
              </a:tblGrid>
              <a:tr h="566640"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Boyut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Parquet'e Göre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664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.tab (ham, sıkıştırılmamış)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454,0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Parquet (ZSTD, DuckDB)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227,7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(referans)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56664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.tab.zst (seviye 3)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187,7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%18 küçük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.tab.zst (seviye 12)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165,9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%27 küçük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  <p:sp>
        <p:nvSpPr>
          <p:cNvPr id="73" name="TextBox 7"/>
          <p:cNvSpPr/>
          <p:nvPr/>
        </p:nvSpPr>
        <p:spPr>
          <a:xfrm>
            <a:off x="502920" y="5164200"/>
            <a:ext cx="11155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00000"/>
                </a:solidFill>
                <a:latin typeface="Arial"/>
              </a:rPr>
              <a:t>Sonuç: ham metnin sıkıştırılmış hali (.tab.zst), parquet'in dictionary encoding'ine rağmen daha küçük çıkıyor (binary sütunların metin tekrarını ZSTD daha etkili yakalıyor).</a:t>
            </a:r>
            <a:endParaRPr b="0" lang="tr-T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02920" y="274320"/>
            <a:ext cx="7314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YAPAY ZEKÂ YAZILIM TEKNOLOJİLERİ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Oval 2"/>
          <p:cNvSpPr/>
          <p:nvPr/>
        </p:nvSpPr>
        <p:spPr>
          <a:xfrm>
            <a:off x="502920" y="6446520"/>
            <a:ext cx="200880" cy="20088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Oval 3"/>
          <p:cNvSpPr/>
          <p:nvPr/>
        </p:nvSpPr>
        <p:spPr>
          <a:xfrm>
            <a:off x="822960" y="6446520"/>
            <a:ext cx="200880" cy="20088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502920" y="777240"/>
            <a:ext cx="11155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TABLO 2: Aşırı Geniş Dosyada ZSTD Seviye Taraması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502920" y="1371600"/>
            <a:ext cx="11155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04040"/>
                </a:solidFill>
                <a:latin typeface="Arial"/>
              </a:rPr>
              <a:t>45.000 sütun (1.000 float64 + 44.000 sabit-sıfır), 10,46 GB, 113.869 satır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9" name="Table 6"/>
          <p:cNvGraphicFramePr/>
          <p:nvPr/>
        </p:nvGraphicFramePr>
        <p:xfrm>
          <a:off x="502920" y="2103120"/>
          <a:ext cx="11155320" cy="365724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3291840"/>
                <a:gridCol w="2194560"/>
                <a:gridCol w="1828800"/>
              </a:tblGrid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Seviye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Boyut (GB)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Sıkıştırma Süresi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Açma Süresi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Oran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0,605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27,3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6,7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17,28x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0,581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40,2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6,7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18,01x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0,578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57,4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6,8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18,10x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0,576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83,4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6,4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18,17x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0,574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192,8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7,7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18,21x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0,524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420,4 sn (7,0 dk)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8,3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19,97x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0,524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1.392,6 sn (23,2 dk)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8,3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19,96x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TextBox 7"/>
          <p:cNvSpPr/>
          <p:nvPr/>
        </p:nvSpPr>
        <p:spPr>
          <a:xfrm>
            <a:off x="502920" y="5760360"/>
            <a:ext cx="11155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02920" y="274320"/>
            <a:ext cx="7314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YAPAY ZEKÂ YAZILIM TEKNOLOJİLERİ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02920" y="777240"/>
            <a:ext cx="11155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Arial"/>
              </a:rPr>
              <a:t>TABLO 3: Uçtan Uca Pipeline ve Sorgu Süreleri</a:t>
            </a:r>
            <a:endParaRPr b="0" lang="tr-T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02920" y="1371600"/>
            <a:ext cx="11155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404040"/>
                </a:solidFill>
                <a:latin typeface="Arial"/>
              </a:rPr>
              <a:t>mixed_wide_test: 45.000 sütun, 100.000 satır, ZSTD(3) → MinIO → ClickHouse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02920" y="1920240"/>
            <a:ext cx="11155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Pipeline Aşamaları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5" name="Table 5"/>
          <p:cNvGraphicFramePr/>
          <p:nvPr/>
        </p:nvGraphicFramePr>
        <p:xfrm>
          <a:off x="502920" y="2286000"/>
          <a:ext cx="11155320" cy="1828800"/>
        </p:xfrm>
        <a:graphic>
          <a:graphicData uri="http://schemas.openxmlformats.org/drawingml/2006/table">
            <a:tbl>
              <a:tblPr/>
              <a:tblGrid>
                <a:gridCol w="5029200"/>
                <a:gridCol w="6126480"/>
              </a:tblGrid>
              <a:tr h="365760"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Aşama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Sonuç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ZSTD(3) sıkıştırma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46,4 sn, 4,95x oran, 1,857 GB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MinIO'ya yükleme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9,3 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ClickHouse yükleme (s3() → tablo)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186,9 sn, 535,2 satır/sn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ClickHouse disk boyutu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2,048 GB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6" name="TextBox 6"/>
          <p:cNvSpPr/>
          <p:nvPr/>
        </p:nvSpPr>
        <p:spPr>
          <a:xfrm>
            <a:off x="502920" y="4114800"/>
            <a:ext cx="11155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Sorgu Süreleri</a:t>
            </a:r>
            <a:endParaRPr b="0" lang="tr-TR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7" name="Table 7"/>
          <p:cNvGraphicFramePr/>
          <p:nvPr/>
        </p:nvGraphicFramePr>
        <p:xfrm>
          <a:off x="502920" y="4480560"/>
          <a:ext cx="11155320" cy="2084400"/>
        </p:xfrm>
        <a:graphic>
          <a:graphicData uri="http://schemas.openxmlformats.org/drawingml/2006/table">
            <a:tbl>
              <a:tblPr/>
              <a:tblGrid>
                <a:gridCol w="5029200"/>
                <a:gridCol w="6126480"/>
              </a:tblGrid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Sorgu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Süre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count()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69,7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Float sütununda avg/min/max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1.063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Karışık binary sütunda filtre (=1)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660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Sabit sütunlarda sum()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1.924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47400">
                <a:tc>
                  <a:txBody>
                    <a:bodyPr lIns="7308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Küçük projeksiyon (10 satır)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428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LibreOffice/24.2.2.2$Windows_X86_64 LibreOffice_project/d56cc158d8a96260b836f100ef4b4ef25d6f1a01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tr-TR</dc:language>
  <cp:lastModifiedBy/>
  <dcterms:modified xsi:type="dcterms:W3CDTF">2026-08-21T10:54:35Z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